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BTC 多空強度預測指標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4"/>
                </a:solidFill>
                <a:latin typeface="Microsoft JhengHei"/>
              </a:defRPr>
            </a:pPr>
            <a:r>
              <a:t>系統架構與數據流程全解析  |  Dual-Model v7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  <a:latin typeface="Calibri"/>
              </a:defRPr>
            </a:pPr>
            <a:r>
              <a:t>29 API Endpoints  |  130+ Features  |  XGBoost Dual-Model  |  4h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系統總覽 — 端到端數據管線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1031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Microsoft JhengHei"/>
              </a:defRPr>
            </a:pPr>
            <a:r>
              <a:t>數據採集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3 家數據商</a:t>
            </a:r>
            <a:br/>
            <a:r>
              <a:t>29 個 API 端點</a:t>
            </a:r>
            <a:br/>
            <a:r>
              <a:t>每小時自動拉取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103120"/>
            <a:ext cx="182880" cy="32004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09728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097280"/>
            <a:ext cx="21031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Microsoft JhengHei"/>
              </a:defRPr>
            </a:pPr>
            <a:r>
              <a:t>特徵工程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8288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12 個特徵群組</a:t>
            </a:r>
            <a:br/>
            <a:r>
              <a:t>130+ 工程特徵</a:t>
            </a:r>
            <a:br/>
            <a:r>
              <a:t>純滾動計算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0600" y="2103120"/>
            <a:ext cx="182880" cy="320040"/>
          </a:xfrm>
          <a:prstGeom prst="rightArrow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09728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097280"/>
            <a:ext cx="210312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C8CFF"/>
                </a:solidFill>
                <a:latin typeface="Microsoft JhengHei"/>
              </a:defRPr>
            </a:pPr>
            <a:r>
              <a:t>模型推論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288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Dual XGBoost v7</a:t>
            </a:r>
            <a:br/>
            <a:r>
              <a:t>方向分類 + 幅度回歸</a:t>
            </a:r>
            <a:br/>
            <a:r>
              <a:t>獨立特徵集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78040" y="2103120"/>
            <a:ext cx="182880" cy="320040"/>
          </a:xfrm>
          <a:prstGeom prst="rightArrow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0" y="109728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097280"/>
            <a:ext cx="210312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Microsoft JhengHei"/>
              </a:defRPr>
            </a:pPr>
            <a:r>
              <a:t>信號生成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18288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方向 / 信心 / 強度</a:t>
            </a:r>
            <a:br/>
            <a:r>
              <a:t>BBP 確認閘門</a:t>
            </a:r>
            <a:br/>
            <a:r>
              <a:t>動態死區 + 遲滯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55480" y="2103120"/>
            <a:ext cx="182880" cy="320040"/>
          </a:xfrm>
          <a:prstGeom prst="rightArrow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84080" y="109728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097280"/>
            <a:ext cx="210312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Microsoft JhengHei"/>
              </a:defRPr>
            </a:pPr>
            <a:r>
              <a:t>圖表輸出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18288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4 面板 PNG 圖表</a:t>
            </a:r>
            <a:br/>
            <a:r>
              <a:t>Telegram 推送</a:t>
            </a:r>
            <a:br/>
            <a:r>
              <a:t>REST API 服務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23360"/>
            <a:ext cx="1783080" cy="210312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API 端點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79" y="4023360"/>
            <a:ext cx="1783080" cy="210312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FB950"/>
                </a:solidFill>
                <a:latin typeface="Calibri"/>
              </a:defRPr>
            </a:pPr>
            <a:r>
              <a:t>130+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特徵數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4023360"/>
            <a:ext cx="1783080" cy="210312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C8C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模型數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199" y="4023360"/>
            <a:ext cx="1783080" cy="210312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199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43"/>
                </a:solidFill>
                <a:latin typeface="Calibri"/>
              </a:defRPr>
            </a:pPr>
            <a:r>
              <a:t>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預測週期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023360"/>
            <a:ext cx="1783080" cy="210312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圖表面板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04120" y="4023360"/>
            <a:ext cx="1783080" cy="210312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6D4E0"/>
                </a:solidFill>
                <a:latin typeface="Calibri"/>
              </a:defRPr>
            </a:pPr>
            <a:r>
              <a:t>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更新頻率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58A6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數據採集層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Microsoft JhengHei"/>
              </a:defRPr>
            </a:pPr>
            <a:r>
              <a:t>多源即時數據收集 — Binance / Coinglass / Deribit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三大數據源總覽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52120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Microsoft JhengHei"/>
              </a:defRPr>
            </a:pPr>
            <a:r>
              <a:t>Binance Futures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7A828E"/>
                </a:solidFill>
                <a:latin typeface="Microsoft JhengHei"/>
              </a:defRPr>
            </a:pPr>
            <a:r>
              <a:t>3 個 REST API 端點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56D4E0"/>
                </a:solidFill>
                <a:latin typeface="Microsoft JhengHei"/>
              </a:defRPr>
            </a:pPr>
            <a:r>
              <a:t>/fapi/v1/klines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1h K 線 OHLCV + taker 成交量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500 bars / 次 (約 20 天歷史)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衍生: log_return, realized_vol, taker_delta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return_lag_1~10, quote_vol_zscore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56D4E0"/>
                </a:solidFill>
                <a:latin typeface="Microsoft JhengHei"/>
              </a:defRPr>
            </a:pPr>
            <a:r>
              <a:t>/fapi/v1/depth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Order book 快照 (L20)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depth_imbalance, spread_bps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near_imbalance, bid_ask_ratio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56D4E0"/>
                </a:solidFill>
                <a:latin typeface="Microsoft JhengHei"/>
              </a:defRPr>
            </a:pPr>
            <a:r>
              <a:t>/fapi/v1/aggTrades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逐筆交易, 2h 回看, 自動分頁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$100K 門檻: 大單 vs 小單分離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agg_large_delta, large_ratio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imbalance_div, delta_frac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4206240" cy="52120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42062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Microsoft JhengHei"/>
              </a:defRPr>
            </a:pPr>
            <a:r>
              <a:t>Coinglass API v4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7A828E"/>
                </a:solidFill>
                <a:latin typeface="Microsoft JhengHei"/>
              </a:defRPr>
            </a:pPr>
            <a:r>
              <a:t>24 個端點 (15 時序 + 9 快照)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時序端點 (原生 1h, 500 bars):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Open Interest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OI 單所 / 聚合 / 幣本位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清算數據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清算單所 / 清算聚合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多空比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頂部帳戶 / 全局帳戶 / 持倉比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資金費率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Funding Rate OHLC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Taker 成交量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Taker 買賣量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CVD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期貨 CVD 聚合 / 現貨 CVD 聚合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溢價/保證金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Coinbase 溢價 / Bitfinex 保證金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快照端點 (即時數據):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Options 最大痛點 / OI / P-C 比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ETF 資金流 / AUM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期貨/現貨淨流入 (多週期)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恐懼貪婪指數 / HL 鯨魚倉位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005840"/>
            <a:ext cx="310896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1005840"/>
            <a:ext cx="310896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Microsoft JhengHei"/>
              </a:defRPr>
            </a:pPr>
            <a:r>
              <a:t>Deribit (免費)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7A828E"/>
                </a:solidFill>
                <a:latin typeface="Microsoft JhengHei"/>
              </a:defRPr>
            </a:pPr>
            <a:r>
              <a:t>2 個公開端點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DVOL 波動率指數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bvol OHLC, intra_range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change_1h, zscore stubs</a:t>
            </a:r>
          </a:p>
          <a:p>
            <a:pPr algn="l">
              <a:spcBef>
                <a:spcPts val="300"/>
              </a:spcBef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Options Summary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P/C volume, IV skew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OTM put/call mean IV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023360"/>
            <a:ext cx="31089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4023360"/>
            <a:ext cx="3108960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JhengHei"/>
              </a:defRPr>
            </a:pPr>
            <a:r>
              <a:t>數據品質保障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重試機制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指數退避 3 次 (2/4/8 秒)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快取回退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.data_cache/ parquet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新鮮度監控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&gt; 3h 過時觸發 TG 告警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3FB9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特徵工程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Microsoft JhengHei"/>
              </a:defRPr>
            </a:pPr>
            <a:r>
              <a:t>12 個特徵群組 | 130+ 工程特徵 | 純滾動計算 (無前視偏差)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特徵群組總覽 (130+ 個特徵)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Microsoft JhengHei"/>
              </a:defRPr>
            </a:pPr>
            <a:r>
              <a:t>K 線衍生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~33 個特徵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log_return, realized_vol</a:t>
            </a:r>
            <a:br/>
            <a:r>
              <a:t>taker_delta_ratio/ma/std</a:t>
            </a:r>
            <a:br/>
            <a:r>
              <a:t>return_lag_1~10</a:t>
            </a:r>
            <a:br/>
            <a:r>
              <a:t>quote_vol_zscore/ratio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00584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Microsoft JhengHei"/>
              </a:defRPr>
            </a:pPr>
            <a:r>
              <a:t>Coinglass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~50+ 個特徵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945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OI delta/accel/pctchg</a:t>
            </a:r>
            <a:br/>
            <a:r>
              <a:t>liq surge/cascade</a:t>
            </a:r>
            <a:br/>
            <a:r>
              <a:t>L/S ratio, funding</a:t>
            </a:r>
            <a:br/>
            <a:r>
              <a:t>taker delta/ratio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0584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2743200" cy="38100"/>
          </a:xfrm>
          <a:prstGeom prst="rect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D4E0"/>
                </a:solidFill>
                <a:latin typeface="Microsoft JhengHei"/>
              </a:defRPr>
            </a:pPr>
            <a:r>
              <a:t>Z-score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~14 個特徵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45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所有主要指標的</a:t>
            </a:r>
            <a:br/>
            <a:r>
              <a:t>24h 滾動標準化</a:t>
            </a:r>
            <a:br/>
            <a:r>
              <a:t>(zscore_win=24)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00584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05840"/>
            <a:ext cx="2743200" cy="38100"/>
          </a:xfrm>
          <a:prstGeom prst="rect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D4E0"/>
                </a:solidFill>
                <a:latin typeface="Microsoft JhengHei"/>
              </a:defRPr>
            </a:pPr>
            <a:r>
              <a:t>交叉特徵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~8 個特徵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1945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liq_x_oi, crowding</a:t>
            </a:r>
            <a:br/>
            <a:r>
              <a:t>conviction</a:t>
            </a:r>
            <a:br/>
            <a:r>
              <a:t>cvd_divergence</a:t>
            </a:r>
            <a:br/>
            <a:r>
              <a:t>margin_funding_align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79476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9476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977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Microsoft JhengHei"/>
              </a:defRPr>
            </a:pPr>
            <a:r>
              <a:t>方向特徵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~40 個特徵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983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6 個子群組</a:t>
            </a:r>
            <a:br/>
            <a:r>
              <a:t>(見下頁詳細)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79476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79476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977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Microsoft JhengHei"/>
              </a:defRPr>
            </a:pPr>
            <a:r>
              <a:t>波動率 BVOL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~13 個特徵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983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Deribit DVOL OHLC</a:t>
            </a:r>
            <a:br/>
            <a:r>
              <a:t>intra_range, change_1h</a:t>
            </a:r>
            <a:br/>
            <a:r>
              <a:t>+ 滾動特徵佔位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79476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794760"/>
            <a:ext cx="27432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977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JhengHei"/>
              </a:defRPr>
            </a:pPr>
            <a:r>
              <a:t>大單流 aggTrades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~11 個特徵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983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agg_large_delta</a:t>
            </a:r>
            <a:br/>
            <a:r>
              <a:t>large_ratio, buy_ratio</a:t>
            </a:r>
            <a:br/>
            <a:r>
              <a:t>imbalance_div</a:t>
            </a:r>
            <a:br/>
            <a:r>
              <a:t>delta_frac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794760"/>
            <a:ext cx="27432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3794760"/>
            <a:ext cx="27432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977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JhengHei"/>
              </a:defRPr>
            </a:pPr>
            <a:r>
              <a:t>動能/時間/深度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~12 個特徵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4983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vol_acceleration</a:t>
            </a:r>
            <a:br/>
            <a:r>
              <a:t>entropy, squeeze_proxy</a:t>
            </a:r>
            <a:br/>
            <a:r>
              <a:t>hour/weekday cyclical</a:t>
            </a:r>
            <a:br/>
            <a:r>
              <a:t>depth_imbalance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方向特徵 — 6 個子群組 (40+ 個特徵)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3703320" cy="2697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7033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Microsoft JhengHei"/>
              </a:defRPr>
            </a:pPr>
            <a:r>
              <a:t>1. 大單流分離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8~12 個特徵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large_delta / small_delta</a:t>
            </a:r>
            <a:br/>
            <a:r>
              <a:t>large_buy_ratio / buy_bias</a:t>
            </a:r>
            <a:br/>
            <a:r>
              <a:t>large_delta_zscore</a:t>
            </a:r>
            <a:br/>
            <a:r>
              <a:t>ma_4, slope_4, persistence</a:t>
            </a:r>
            <a:br/>
            <a:br/>
            <a:r>
              <a:t>原理: 大單方向 = 機構意圖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005840"/>
            <a:ext cx="3703320" cy="2697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703320" cy="38100"/>
          </a:xfrm>
          <a:prstGeom prst="rect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143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6D4E0"/>
                </a:solidFill>
                <a:latin typeface="Microsoft JhengHei"/>
              </a:defRPr>
            </a:pPr>
            <a:r>
              <a:t>2. 失衡持續性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8 個特徵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imb_1b / 3b / 5b / 8b</a:t>
            </a:r>
            <a:br/>
            <a:r>
              <a:t>imb_std_5b (低=持續)</a:t>
            </a:r>
            <a:br/>
            <a:r>
              <a:t>imb_sign_persistence</a:t>
            </a:r>
            <a:br/>
            <a:r>
              <a:t>imb_slope_4b, 3b_zscore</a:t>
            </a:r>
            <a:br/>
            <a:br/>
            <a:r>
              <a:t>原理: 單根失衡=雜訊, 持續=信號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05840"/>
            <a:ext cx="3703320" cy="2697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37033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143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Microsoft JhengHei"/>
              </a:defRPr>
            </a:pPr>
            <a:r>
              <a:t>3. 吸收代理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8 個特徵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absorption_buy / sell / net</a:t>
            </a:r>
            <a:br/>
            <a:r>
              <a:t>absorption_net_zscore</a:t>
            </a:r>
            <a:br/>
            <a:r>
              <a:t>buy/sell_flow_price_impact</a:t>
            </a:r>
            <a:br/>
            <a:r>
              <a:t>impact_asymmetry</a:t>
            </a:r>
            <a:br/>
            <a:br/>
            <a:r>
              <a:t>原理: 大流量+小波動=限價單吸收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886200"/>
            <a:ext cx="3703320" cy="2697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70332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23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JhengHei"/>
              </a:defRPr>
            </a:pPr>
            <a:r>
              <a:t>4. 短期動量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8 個特徵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ret_1b / 2b / 3b / 5b</a:t>
            </a:r>
            <a:br/>
            <a:r>
              <a:t>wick_asymmetry</a:t>
            </a:r>
            <a:br/>
            <a:r>
              <a:t>body_ratio / signed_body</a:t>
            </a:r>
            <a:br/>
            <a:r>
              <a:t>reversal_1v3, persistence</a:t>
            </a:r>
            <a:br/>
            <a:br/>
            <a:r>
              <a:t>原理: 價格行為方向性信號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886200"/>
            <a:ext cx="3703320" cy="2697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886200"/>
            <a:ext cx="370332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023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JhengHei"/>
              </a:defRPr>
            </a:pPr>
            <a:r>
              <a:t>5. 情緒/反向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5~7 個特徵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5262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funding_zscore / extreme</a:t>
            </a:r>
            <a:br/>
            <a:r>
              <a:t>ls_ratio_zscore</a:t>
            </a:r>
            <a:br/>
            <a:r>
              <a:t>crowding_zscore</a:t>
            </a:r>
            <a:br/>
            <a:r>
              <a:t>liq_imbalance_zscore/slope</a:t>
            </a:r>
            <a:br/>
            <a:r>
              <a:t>oi_price_confirm</a:t>
            </a:r>
            <a:br/>
            <a:br/>
            <a:r>
              <a:t>原理: 極端倉位 = 均值回歸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86200"/>
            <a:ext cx="3703320" cy="2697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886200"/>
            <a:ext cx="370332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023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CFF"/>
                </a:solidFill>
                <a:latin typeface="Microsoft JhengHei"/>
              </a:defRPr>
            </a:pPr>
            <a:r>
              <a:t>6. Order Book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4~6 個特徵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5262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obi_l1 / obi_l5 (+ zscore)</a:t>
            </a:r>
            <a:br/>
            <a:r>
              <a:t>obi_change</a:t>
            </a:r>
            <a:br/>
            <a:r>
              <a:t>obi_persistence</a:t>
            </a:r>
            <a:br/>
            <a:br/>
            <a:r>
              <a:t>原理: 掛單不平衡</a:t>
            </a:r>
            <a:br/>
            <a:r>
              <a:t>= 短期方向壓力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特徵計算管線 — build_live_features()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214884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14884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原始數據</a:t>
            </a:r>
            <a:br/>
            <a:r>
              <a:t>輸入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klines (500 bars)</a:t>
            </a:r>
            <a:br/>
            <a:r>
              <a:t>cg_data (15 端點)</a:t>
            </a:r>
            <a:br/>
            <a:r>
              <a:t>depth (快照)</a:t>
            </a:r>
            <a:br/>
            <a:r>
              <a:t>aggtrades (快照)</a:t>
            </a:r>
            <a:br/>
            <a:r>
              <a:t>options_data (DVOL)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8880" y="2560320"/>
            <a:ext cx="164592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005840"/>
            <a:ext cx="214884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005840"/>
            <a:ext cx="21488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B95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K 線衍生</a:t>
            </a:r>
            <a:br/>
            <a:r>
              <a:t>計算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log_return, vol</a:t>
            </a:r>
            <a:br/>
            <a:r>
              <a:t>taker_delta</a:t>
            </a:r>
            <a:br/>
            <a:r>
              <a:t>return lags</a:t>
            </a:r>
            <a:br/>
            <a:r>
              <a:t>quote_vol stats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46320" y="2560320"/>
            <a:ext cx="164592" cy="274320"/>
          </a:xfrm>
          <a:prstGeom prst="rightArrow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005840"/>
            <a:ext cx="214884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005840"/>
            <a:ext cx="21488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B95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Coinglass</a:t>
            </a:r>
            <a:br/>
            <a:r>
              <a:t>注入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2860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merge_asof()</a:t>
            </a:r>
            <a:br/>
            <a:r>
              <a:t>原生 1h 精確對齊</a:t>
            </a:r>
            <a:br/>
            <a:r>
              <a:t>15 端點全部注入</a:t>
            </a:r>
            <a:br/>
            <a:r>
              <a:t>z-score + 交叉特徵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23760" y="2560320"/>
            <a:ext cx="164592" cy="274320"/>
          </a:xfrm>
          <a:prstGeom prst="rightArrow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005840"/>
            <a:ext cx="214884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005840"/>
            <a:ext cx="214884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C8C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動能/動態</a:t>
            </a:r>
            <a:br/>
            <a:r>
              <a:t>計算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2860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slope, momentum</a:t>
            </a:r>
            <a:br/>
            <a:r>
              <a:t>OI-price divergence</a:t>
            </a:r>
            <a:br/>
            <a:r>
              <a:t>vol dynamics</a:t>
            </a:r>
            <a:br/>
            <a:r>
              <a:t>absorption / liq enhanced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01200" y="2560320"/>
            <a:ext cx="164592" cy="274320"/>
          </a:xfrm>
          <a:prstGeom prst="rightArrow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1005840"/>
            <a:ext cx="214884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005840"/>
            <a:ext cx="214884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快照特徵</a:t>
            </a:r>
            <a:br/>
            <a:r>
              <a:t>注入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2860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BVOL (最後一根)</a:t>
            </a:r>
            <a:br/>
            <a:r>
              <a:t>aggTrades (最後一根)</a:t>
            </a:r>
            <a:br/>
            <a:r>
              <a:t>depth (最後一根)</a:t>
            </a:r>
            <a:br/>
            <a:r>
              <a:t>方向特徵 (全量)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5120640"/>
            <a:ext cx="11612880" cy="100584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JhengHei"/>
              </a:defRPr>
            </a:pPr>
            <a:r>
              <a:t>關鍵原則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所有特徵使用純滾動計算 (trailing-only), 嚴格無前視偏差  |  Coinglass 原生 1h 數據使用 merge_asof 精確時間對齊  |  快照數據只設定最後一根 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BC8C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模型架構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Microsoft JhengHei"/>
              </a:defRPr>
            </a:pPr>
            <a:r>
              <a:t>Dual-Model v7 — 方向分類器 + 幅度回歸器 (獨立管線)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雙模型 v7 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566928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669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Microsoft JhengHei"/>
              </a:defRPr>
            </a:pPr>
            <a:r>
              <a:t>方向模型 Direction Model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模型類型    XGBClassifier (二分類)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特徵數量    89 個精選特徵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輸出          P(UP) in [0, 1]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決策邏輯: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3FB950"/>
                </a:solidFill>
                <a:latin typeface="Microsoft JhengHei"/>
              </a:defRPr>
            </a:pPr>
            <a:r>
              <a:t>  P(UP) &gt; 0.60                UP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FF6B6B"/>
                </a:solidFill>
                <a:latin typeface="Microsoft JhengHei"/>
              </a:defRPr>
            </a:pPr>
            <a:r>
              <a:t>  P(UP) &lt; 0.40                DOWN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7A828E"/>
                </a:solidFill>
                <a:latin typeface="Microsoft JhengHei"/>
              </a:defRPr>
            </a:pPr>
            <a:r>
              <a:t>  0.40 &lt;= P(UP) &lt;= 0.60   NEUTRAL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BBP 確認閘門: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方向必須與多空力量指標同向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衝突時 (|BBP| &gt; 0.15) 降級為 NEUTRAL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669280" cy="38404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JhengHei"/>
              </a:defRPr>
            </a:pPr>
            <a:r>
              <a:t>幅度模型 Magnitude Model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模型類型    XGBRegressor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特徵數量    78 個精選特徵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B0B8C4"/>
                </a:solidFill>
                <a:latin typeface="Microsoft JhengHei"/>
              </a:defRPr>
            </a:pPr>
            <a:r>
              <a:t>輸出          |return_4h| &gt;= 0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組合輸出: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56D4E0"/>
                </a:solidFill>
                <a:latin typeface="Microsoft JhengHei"/>
              </a:defRPr>
            </a:pPr>
            <a:r>
              <a:t>  pred_return_4h = sign(direction) x magnitude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信心評分: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|mag_pred| 的擴展百分位排名 (0~100)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方向確信度加成: x (0.7 + 0.3 x |P(UP)-0.5| x 2)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強度等級: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&gt;= 80 Strong  |  &gt;= 65 Moderate  |  &lt; 65 Weak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120640"/>
            <a:ext cx="11612880" cy="1005840"/>
          </a:xfrm>
          <a:prstGeom prst="round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6D4E0"/>
                </a:solidFill>
                <a:latin typeface="Microsoft JhengHei"/>
              </a:defRPr>
            </a:pPr>
            <a:r>
              <a:t>模型回退鏈</a:t>
            </a:r>
          </a:p>
          <a:p>
            <a:pPr algn="l">
              <a:spcBef>
                <a:spcPts val="3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  Dual Model (v7)  ───&gt;  Regime Models (v5/v6, per-target per-regime)  ───&gt;  Legacy Single Model (v2)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  自動偵測 model_artifacts/ 目錄下的模型檔案, 優先使用最新版本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信號生成管線 (6 步驟)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17830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783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方向分類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P(UP) 閾值判定</a:t>
            </a:r>
            <a:br/>
            <a:r>
              <a:t>&gt; 0.60 = UP</a:t>
            </a:r>
            <a:br/>
            <a:r>
              <a:t>&lt; 0.40 = DOWN</a:t>
            </a:r>
            <a:br/>
            <a:r>
              <a:t>else NEUTRAL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3120" y="2468880"/>
            <a:ext cx="118872" cy="22860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0279" y="1005840"/>
            <a:ext cx="17830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79" y="1005840"/>
            <a:ext cx="178308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79" y="11887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B95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19" y="17373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幅度預測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19" y="22860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|return_4h|</a:t>
            </a:r>
            <a:br/>
            <a:r>
              <a:t>預測值 &gt;= 0</a:t>
            </a:r>
            <a:br/>
            <a:r>
              <a:t>獨立於方向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69079" y="2468880"/>
            <a:ext cx="118872" cy="228600"/>
          </a:xfrm>
          <a:prstGeom prst="rightArrow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005840"/>
            <a:ext cx="17830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005840"/>
            <a:ext cx="178308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1887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C8C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7373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信心評分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2860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|mag| 百分位</a:t>
            </a:r>
            <a:br/>
            <a:r>
              <a:t>+ 方向確信加成</a:t>
            </a:r>
            <a:br/>
            <a:r>
              <a:t>0~100 分</a:t>
            </a:r>
            <a:br/>
            <a:r>
              <a:t>需 30 bar 暖機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35040" y="2468880"/>
            <a:ext cx="118872" cy="228600"/>
          </a:xfrm>
          <a:prstGeom prst="rightArrow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199" y="1005840"/>
            <a:ext cx="17830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199" y="1005840"/>
            <a:ext cx="178308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199" y="11887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17373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強度分級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39" y="22860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&gt;= 80 Strong</a:t>
            </a:r>
            <a:br/>
            <a:r>
              <a:t>&gt;= 65 Moderate</a:t>
            </a:r>
            <a:br/>
            <a:r>
              <a:t>&lt; 65 Weak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00999" y="2468880"/>
            <a:ext cx="118872" cy="228600"/>
          </a:xfrm>
          <a:prstGeom prst="rightArrow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1005840"/>
            <a:ext cx="17830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005840"/>
            <a:ext cx="1783080" cy="38100"/>
          </a:xfrm>
          <a:prstGeom prst="rect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11887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6D4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7373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BBP 閘門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2860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方向須與</a:t>
            </a:r>
            <a:br/>
            <a:r>
              <a:t>BBP 同向</a:t>
            </a:r>
            <a:br/>
            <a:r>
              <a:t>衝突則降級</a:t>
            </a:r>
            <a:br/>
            <a:r>
              <a:t>為 NEUTRAL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966960" y="2468880"/>
            <a:ext cx="118872" cy="228600"/>
          </a:xfrm>
          <a:prstGeom prst="rightArrow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04120" y="1005840"/>
            <a:ext cx="17830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04120" y="1005840"/>
            <a:ext cx="178308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11887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17373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Regime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2860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CHOPPY x1.6</a:t>
            </a:r>
            <a:br/>
            <a:r>
              <a:t>TREND x0.9</a:t>
            </a:r>
            <a:br/>
            <a:r>
              <a:t>遲滯 x1.4</a:t>
            </a:r>
            <a:br/>
            <a:r>
              <a:t>冷卻 &gt;= 1 bar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754880"/>
            <a:ext cx="116128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JhengHei"/>
              </a:defRPr>
            </a:pPr>
            <a:r>
              <a:t>Regime 偵測 (市場狀態判定)</a:t>
            </a:r>
          </a:p>
          <a:p>
            <a:pPr algn="l">
              <a:spcBef>
                <a:spcPts val="300"/>
              </a:spcBef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WARMUP (前 168 bars / 7 天)       CHOPPY (vol &lt;= 0.6 或 |24h ret| &lt; 0.5%)       TRENDING_BULL / BEAR (vol &gt; 0.6 且 |24h ret| &gt; 0.5%)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  遲滯機制: 翻轉方向需要 1.4 倍的反向信號強度  |  冷卻機制: 翻轉後至少持續 1 根 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F4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圖表與輸出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27432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Microsoft JhengHei"/>
              </a:defRPr>
            </a:pPr>
            <a:r>
              <a:t>4 面板圖表 | Telegram 推送 | REST API | 數據持久化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4 面板圖表輸出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274320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8E"/>
                </a:solidFill>
                <a:latin typeface="Microsoft JhengHei"/>
              </a:defRPr>
            </a:pPr>
            <a:r>
              <a:t>Panel 1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BC8CFF"/>
                </a:solidFill>
                <a:latin typeface="Microsoft JhengHei"/>
              </a:defRPr>
            </a:pPr>
            <a:r>
              <a:t>信心熱力圖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高度比例: 0.8x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紫色漸層條</a:t>
            </a:r>
            <a:br/>
            <a:r>
              <a:t>0~100% 信心分數</a:t>
            </a:r>
            <a:br/>
            <a:r>
              <a:t>深色 = 高信心</a:t>
            </a:r>
            <a:br/>
            <a:r>
              <a:t>顯示最近 200 根 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005840"/>
            <a:ext cx="274320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8E"/>
                </a:solidFill>
                <a:latin typeface="Microsoft JhengHei"/>
              </a:defRPr>
            </a:pPr>
            <a:r>
              <a:t>Panel 2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3FB950"/>
                </a:solidFill>
                <a:latin typeface="Microsoft JhengHei"/>
              </a:defRPr>
            </a:pPr>
            <a:r>
              <a:t>K 線 + 方向三角形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高度比例: 8x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綠色/紅色 K 線</a:t>
            </a:r>
            <a:br/>
            <a:r>
              <a:t>三角形 (Moderate/Strong)</a:t>
            </a:r>
            <a:br/>
            <a:r>
              <a:t>UP = 綠色向上三角</a:t>
            </a:r>
            <a:br/>
            <a:r>
              <a:t>DOWN = 紅色向下三角</a:t>
            </a:r>
            <a:br/>
            <a:r>
              <a:t>Weak 不顯示三角形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05840"/>
            <a:ext cx="274320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8E"/>
                </a:solidFill>
                <a:latin typeface="Microsoft JhengHei"/>
              </a:defRPr>
            </a:pPr>
            <a:r>
              <a:t>Panel 3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58A6FF"/>
                </a:solidFill>
                <a:latin typeface="Microsoft JhengHei"/>
              </a:defRPr>
            </a:pPr>
            <a:r>
              <a:t>Magnitude 幅度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高度比例: 2x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預測 |return_4h| (%)</a:t>
            </a:r>
            <a:br/>
            <a:r>
              <a:t>UP: 綠色柱 (零線上)</a:t>
            </a:r>
            <a:br/>
            <a:r>
              <a:t>DOWN: 紅色柱 (零線下)</a:t>
            </a:r>
            <a:br/>
            <a:r>
              <a:t>NEUTRAL: 灰色柱 (零線上)</a:t>
            </a:r>
            <a:br/>
            <a:r>
              <a:t>幅度獨立於方向顯示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005840"/>
            <a:ext cx="274320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05840"/>
            <a:ext cx="27432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8E"/>
                </a:solidFill>
                <a:latin typeface="Microsoft JhengHei"/>
              </a:defRPr>
            </a:pPr>
            <a:r>
              <a:t>Panel 4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6B6B"/>
                </a:solidFill>
                <a:latin typeface="Microsoft JhengHei"/>
              </a:defRPr>
            </a:pPr>
            <a:r>
              <a:t>Bull/Bear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Microsoft JhengHei"/>
              </a:defRPr>
            </a:pPr>
            <a:r>
              <a:t>高度比例: 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BBP 合成指標 [-1, 1]</a:t>
            </a:r>
            <a:br/>
            <a:r>
              <a:t>綠色 = 多方力量</a:t>
            </a:r>
            <a:br/>
            <a:r>
              <a:t>紅色 = 空方力量</a:t>
            </a:r>
            <a:br/>
            <a:r>
              <a:t>由 5 個 CG 指標合成:</a:t>
            </a:r>
            <a:br/>
            <a:r>
              <a:t>OI/funding/taker/LS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輸出與傳遞管道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384048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840480" cy="38100"/>
          </a:xfrm>
          <a:prstGeom prst="rect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6D4E0"/>
                </a:solidFill>
                <a:latin typeface="Microsoft JhengHei"/>
              </a:defRPr>
            </a:pPr>
            <a:r>
              <a:t>Telegram Bot 推送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圖表傳送: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4 面板 PNG + 說明文字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方向 / 信心 / 強度 / regime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快速鍵盤 (8 個按鈕):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Chart | Perf | DB | Flow BTC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Flow All | Status | Events | Help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自動告警: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數據新鮮度超時 (&gt; 3h)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全端點失效告警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Strong 信號特殊提醒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05840"/>
            <a:ext cx="384048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005840"/>
            <a:ext cx="384048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Microsoft JhengHei"/>
              </a:defRPr>
            </a:pPr>
            <a:r>
              <a:t>REST API (Flask)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最新圖表 PNG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/health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系統健康檢查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/json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最新預測 JSON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POST /force-update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手動觸發更新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/indicator-status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詳細狀態 + CG 健康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/db-diag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MySQL 診斷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/indicator-perf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滾動準確率指標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1">
                <a:solidFill>
                  <a:srgbClr val="56D4E0"/>
                </a:solidFill>
                <a:latin typeface="Microsoft JhengHei"/>
              </a:defRPr>
            </a:pPr>
            <a:r>
              <a:t>  GET /diag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完整診斷頁面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005840"/>
            <a:ext cx="338328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1005840"/>
            <a:ext cx="338328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Microsoft JhengHei"/>
              </a:defRPr>
            </a:pPr>
            <a:r>
              <a:t>數據持久化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MySQL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indicator_history 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14+ 欄位, UPSERT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每根 bar 自動寫入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Parquet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完整歷史紀錄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重啟自動恢復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Git 版本控制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.data_cache/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API 回退快取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per-source parquet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Snapshots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depth / aggTrades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options / sentiment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0B8C4"/>
                </a:solidFill>
                <a:latin typeface="Microsoft JhengHei"/>
              </a:defRPr>
            </a:pPr>
            <a:r>
              <a:t>  存入 MySQL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6B6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基礎設施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27432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Microsoft JhengHei"/>
              </a:defRPr>
            </a:pPr>
            <a:r>
              <a:t>Railway 部署 | MySQL 8.0 | Flask + APScheduler | 執行緒模型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技術棧與部署架構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502920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029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Microsoft JhengHei"/>
              </a:defRPr>
            </a:pPr>
            <a:r>
              <a:t>技術棧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執行環境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Python 3.11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機器學習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XGBoost (Classifier + Regressor)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數據處理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Pandas, NumPy, SciPy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Web 框架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Flask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資料庫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MySQL 8.0 (Railway 託管)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部署平台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Railway (git push 自動部署)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排程器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APScheduler (1h 間隔)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圖表引擎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Matplotlib (Agg backend)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推送服務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Telegram Bot API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環境配置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python-dotenv (.env)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HTTP 客戶端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  Requests (重試 + 退避)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005840"/>
            <a:ext cx="630936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005840"/>
            <a:ext cx="630936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JhengHei"/>
              </a:defRPr>
            </a:pPr>
            <a:r>
              <a:t>執行緒模型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Flask 主執行緒 (port $PORT)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HTTP 請求處理 + threading.Lock 保護共享狀態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APScheduler 背景執行緒 (每小時觸發)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1. 拉取數據 (Binance + CG + Deribit)    5. 渲染 4 面板圖表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2. 建構特徵 (130+ 欄位)                     6. 儲存 MySQL + Parquet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3. 執行雙模型推論                               7. 推送 Telegram 圖片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4. 回填歷史 mag_pred (如需要)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023360"/>
            <a:ext cx="6309360" cy="2103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4023360"/>
            <a:ext cx="630936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JhengHei"/>
              </a:defRPr>
            </a:pPr>
            <a:r>
              <a:t>Railway 部署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git push main 觸發自動部署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Service 1: 主 Bot (Dockerfile)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Service 2: 市場數據 (Dockerfile.marketdata)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MySQL: Railway 內部 mysql.railway.internal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  環境變數: Railway 設定 &gt; .env 檔案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核心檔案結構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685800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6858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Microsoft JhengHei"/>
              </a:defRPr>
            </a:pPr>
            <a:r>
              <a:t>indicator/ (生產模組)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app.py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900+ 行  |  Flask API, Telegram, 更新排程, 主入口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inference.py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700+ 行  |  IndicatorEngine v7: 模型載入, 推論, regime 偵測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data_fetcher.py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730+ 行  |  13 個 fetch 函數, 重試/快取, 29 API 端點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feature_builder_live.py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530+ 行  |  特徵工程: 130+ 欄位從原始 API 計算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chart_renderer.py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300+ 行  |  Matplotlib 4 面板圖表渲染 (PNG)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auto_update.py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400+ 行  |  獨立排程器, 歷史持久化, TG 告警</a:t>
            </a:r>
          </a:p>
          <a:p>
            <a:pPr algn="l">
              <a:spcBef>
                <a:spcPts val="300"/>
              </a:spcBef>
              <a:defRPr sz="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100" b="1">
                <a:solidFill>
                  <a:srgbClr val="56D4E0"/>
                </a:solidFill>
                <a:latin typeface="Microsoft JhengHei"/>
              </a:defRPr>
            </a:pPr>
            <a:r>
              <a:t>  snapshot_collector.py</a:t>
            </a:r>
          </a:p>
          <a:p>
            <a:pPr algn="l">
              <a:spcBef>
                <a:spcPts val="0"/>
              </a:spcBef>
              <a:defRPr sz="900" b="0">
                <a:solidFill>
                  <a:srgbClr val="B0B8C4"/>
                </a:solidFill>
                <a:latin typeface="Microsoft JhengHei"/>
              </a:defRPr>
            </a:pPr>
            <a:r>
              <a:t>    350+ 行  |  Depth/aggTrades/options/sentiment 快照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63440"/>
            <a:ext cx="6858000" cy="14630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C8CFF"/>
                </a:solidFill>
                <a:latin typeface="Microsoft JhengHei"/>
              </a:defRPr>
            </a:pPr>
            <a:r>
              <a:t>research/ (訓練與實驗)</a:t>
            </a:r>
          </a:p>
          <a:p>
            <a:pPr algn="l">
              <a:spcBef>
                <a:spcPts val="300"/>
              </a:spcBef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direction_features.py    450+ 行  |  6 個子群組, 40+ 方向特徵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dual_model/train_*.py   300+ 行  |  XGB 分類器/回歸器訓練管線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dual_model/evaluate_*.py 200+ 行  |  OOS 評估, IC/ICIR, calibration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005840"/>
            <a:ext cx="4480560" cy="51206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005840"/>
            <a:ext cx="448056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C8CFF"/>
                </a:solidFill>
                <a:latin typeface="Microsoft JhengHei"/>
              </a:defRPr>
            </a:pPr>
            <a:r>
              <a:t>model_artifacts/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dual_model/ (v7 主要)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direction_xgb.json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direction_feature_cols.json (89)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magnitude_xgb.json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magnitude_feature_cols.json (78)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training_stats.json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direction_models/ (v5 回退)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direction_xgb.json (170+ 特徵)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regime_models/ (v5 回退)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per-target per-regime 模型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其他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indicator_history.parquet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xgb_model.json (v2 legacy)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0B8C4"/>
                </a:solidFill>
                <a:latin typeface="Microsoft JhengHei"/>
              </a:defRPr>
            </a:pPr>
            <a:r>
              <a:t>  .data_cache/ (API 快取)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模型評估指標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116128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Microsoft JhengHei"/>
              </a:defRPr>
            </a:pPr>
            <a:r>
              <a:t>核心定位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  這是「多空強度預測指標」, 不是交易策略  |  所有評估以預測品質為準, 不做交易績效回測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6B6B"/>
                </a:solidFill>
                <a:latin typeface="Microsoft JhengHei"/>
              </a:defRPr>
            </a:pPr>
            <a:r>
              <a:t>  嚴禁延伸到: entry/exit 規則, TP/SL 設計, 倉位管理, 自動下單, 策略回測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51760"/>
            <a:ext cx="11612880" cy="6583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Microsoft JhengHei"/>
              </a:defRPr>
            </a:pPr>
            <a:r>
              <a:t>Spearman 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24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 0.05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249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預測值與實際收益的排序相關係數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429000"/>
            <a:ext cx="11612880" cy="6583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Microsoft JhengHei"/>
              </a:defRPr>
            </a:pPr>
            <a:r>
              <a:t>ICIR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02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 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021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IC / std(IC), 衡量預測穩定性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06240"/>
            <a:ext cx="11612880" cy="6583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Microsoft JhengHei"/>
              </a:defRPr>
            </a:pPr>
            <a:r>
              <a:t>方向準確率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 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793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pred_direction vs actual 實際方向匹配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983479"/>
            <a:ext cx="11612880" cy="6583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566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Microsoft JhengHei"/>
              </a:defRPr>
            </a:pPr>
            <a:r>
              <a:t>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566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Monotonic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5663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預測越強 -&gt; 實際收益越高 (單調遞增)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760720"/>
            <a:ext cx="11612880" cy="6583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33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JhengHei"/>
              </a:defRPr>
            </a:pPr>
            <a:r>
              <a:t>信心分布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833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均勻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8338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不應全部集中在 Weak, 需合理分散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系統架構總結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28E"/>
                </a:solidFill>
                <a:latin typeface="Calibri"/>
              </a:defRPr>
            </a:pPr>
            <a:r>
              <a:t>BTC Market Intelligence Indicator  |  System Architecture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828E"/>
                </a:solidFill>
                <a:latin typeface="Calibri"/>
              </a:defRPr>
            </a:pPr>
            <a:r>
              <a:t>source@rfo  |  2026-04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Microsoft JhengHei"/>
              </a:defRPr>
            </a:pPr>
            <a:r>
              <a:t>數據來源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0515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3 家數據商 (Binance, Coinglass, Deribit), 29 個 API 端點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Microsoft JhengHei"/>
              </a:defRPr>
            </a:pPr>
            <a:r>
              <a:t>特徵工程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12 個群組, 130+ 工程特徵, 純滾動計算, 無前視偏差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3774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Microsoft JhengHei"/>
              </a:defRPr>
            </a:pPr>
            <a:r>
              <a:t>模型架構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231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Dual XGBoost v7: 方向分類 (89 feat) + 幅度回歸 (78 feat)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0632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Microsoft JhengHei"/>
              </a:defRPr>
            </a:pPr>
            <a:r>
              <a:t>信號管線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089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6 步驟: 方向 -&gt; 幅度 -&gt; 信心 -&gt; 強度 -&gt; BBP 閘門 -&gt; Regime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49039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JhengHei"/>
              </a:defRPr>
            </a:pPr>
            <a:r>
              <a:t>圖表輸出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94759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4 面板 (信心熱力圖 + K 線 + 幅度柱 + BBP), 200 bars, UTC+8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4348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JhengHei"/>
              </a:defRPr>
            </a:pPr>
            <a:r>
              <a:t>傳遞管道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4805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Telegram (圖片 + 8 鍵) + REST API (10 路由) + MySQL + Parquet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206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JhengHei"/>
              </a:defRPr>
            </a:pPr>
            <a:r>
              <a:t>部署架構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663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Railway 自動部署, Flask + APScheduler, 1h 更新週期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806440"/>
            <a:ext cx="1161288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JhengHei"/>
              </a:defRPr>
            </a:pPr>
            <a:r>
              <a:t>品質保障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Microsoft JhengHei"/>
              </a:defRPr>
            </a:pPr>
            <a:r>
              <a:t>重試/快取/新鮮度監控, BBP 確認閘門, 動態死區, 遲滯機制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